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75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16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81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0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23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91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72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87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53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341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64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924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089EA-3917-462C-8B98-0F0665B0A20B}" type="datetimeFigureOut">
              <a:rPr lang="zh-TW" altLang="en-US" smtClean="0"/>
              <a:t>2017/8/16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D2DBA-1534-48DF-ACB7-7B9B6F33C9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39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4448725"/>
              </p:ext>
            </p:extLst>
          </p:nvPr>
        </p:nvGraphicFramePr>
        <p:xfrm>
          <a:off x="467544" y="908720"/>
          <a:ext cx="8229600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520"/>
                <a:gridCol w="2232248"/>
                <a:gridCol w="2736304"/>
                <a:gridCol w="1666528"/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模組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函式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功能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備註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資料分析模組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上綸工單分析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Classification</a:t>
                      </a:r>
                      <a:r>
                        <a:rPr lang="zh-TW" altLang="en-US" sz="1200" dirty="0" smtClean="0"/>
                        <a:t>與驗證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色系判定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依染料配方與濃度判定淺中深色系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工作派遣模組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Job Queue</a:t>
                      </a:r>
                      <a:r>
                        <a:rPr lang="zh-TW" altLang="en-US" dirty="0" smtClean="0"/>
                        <a:t>排序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色系、交期、</a:t>
                      </a:r>
                      <a:r>
                        <a:rPr lang="en-US" altLang="zh-TW" sz="1200" dirty="0" smtClean="0"/>
                        <a:t>key</a:t>
                      </a:r>
                      <a:r>
                        <a:rPr lang="zh-TW" altLang="en-US" sz="1200" dirty="0" smtClean="0"/>
                        <a:t>單日、投胚量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染缸派遣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選擇適合目前工單的染缸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Job</a:t>
                      </a:r>
                      <a:r>
                        <a:rPr lang="en-US" altLang="zh-TW" baseline="0" dirty="0" smtClean="0"/>
                        <a:t> Queue</a:t>
                      </a:r>
                      <a:r>
                        <a:rPr lang="zh-TW" altLang="en-US" baseline="0" dirty="0" smtClean="0"/>
                        <a:t>管理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工作佇列產生、更新、搜尋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介面模組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染色排程操作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工單與排程檢視，手動排程調整，輸出操作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定型排程操作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/>
                        <a:t>工單與排程檢視，手動排程調整，輸出操作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資訊</a:t>
                      </a:r>
                      <a:r>
                        <a:rPr lang="en-US" altLang="zh-TW" dirty="0" smtClean="0"/>
                        <a:t>IO</a:t>
                      </a:r>
                      <a:r>
                        <a:rPr lang="zh-TW" altLang="en-US" dirty="0" smtClean="0"/>
                        <a:t>模組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ERP</a:t>
                      </a:r>
                      <a:r>
                        <a:rPr lang="zh-TW" altLang="en-US" dirty="0" smtClean="0"/>
                        <a:t>工單取得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上綸</a:t>
                      </a:r>
                      <a:r>
                        <a:rPr lang="en-US" altLang="zh-TW" sz="1200" dirty="0" smtClean="0"/>
                        <a:t>ERP</a:t>
                      </a:r>
                      <a:r>
                        <a:rPr lang="zh-TW" altLang="en-US" sz="1200" dirty="0" smtClean="0"/>
                        <a:t>連接與讀取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排程結果輸出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上綸</a:t>
                      </a:r>
                      <a:r>
                        <a:rPr lang="en-US" altLang="zh-TW" sz="1200" dirty="0" smtClean="0"/>
                        <a:t>ERP</a:t>
                      </a:r>
                      <a:r>
                        <a:rPr lang="zh-TW" altLang="en-US" sz="1200" dirty="0" smtClean="0"/>
                        <a:t>、報表、</a:t>
                      </a:r>
                      <a:r>
                        <a:rPr lang="en-US" altLang="zh-TW" sz="1200" dirty="0" smtClean="0"/>
                        <a:t>Local</a:t>
                      </a:r>
                      <a:r>
                        <a:rPr lang="zh-TW" altLang="en-US" sz="1200" dirty="0" smtClean="0"/>
                        <a:t>存檔輸出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75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圓角矩形 53"/>
          <p:cNvSpPr/>
          <p:nvPr/>
        </p:nvSpPr>
        <p:spPr>
          <a:xfrm>
            <a:off x="6164133" y="3697858"/>
            <a:ext cx="298373" cy="92847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/>
              <a:t>工</a:t>
            </a:r>
            <a:endParaRPr lang="en-US" altLang="zh-TW" sz="1400" b="1" dirty="0" smtClean="0"/>
          </a:p>
          <a:p>
            <a:pPr algn="ctr"/>
            <a:r>
              <a:rPr lang="zh-TW" altLang="en-US" sz="1400" b="1" dirty="0" smtClean="0"/>
              <a:t>單</a:t>
            </a:r>
            <a:endParaRPr lang="en-US" altLang="zh-TW" sz="1400" b="1" dirty="0" smtClean="0"/>
          </a:p>
          <a:p>
            <a:pPr algn="ctr"/>
            <a:r>
              <a:rPr lang="zh-TW" altLang="en-US" sz="1400" b="1" dirty="0" smtClean="0"/>
              <a:t>排</a:t>
            </a:r>
            <a:endParaRPr lang="en-US" altLang="zh-TW" sz="1400" b="1" dirty="0" smtClean="0"/>
          </a:p>
          <a:p>
            <a:pPr algn="ctr"/>
            <a:r>
              <a:rPr lang="zh-TW" altLang="en-US" sz="1400" b="1" dirty="0" smtClean="0"/>
              <a:t>完</a:t>
            </a:r>
            <a:endParaRPr lang="zh-TW" altLang="en-US" sz="1400" b="1" dirty="0"/>
          </a:p>
        </p:txBody>
      </p:sp>
      <p:sp>
        <p:nvSpPr>
          <p:cNvPr id="53" name="圓角矩形 52"/>
          <p:cNvSpPr/>
          <p:nvPr/>
        </p:nvSpPr>
        <p:spPr>
          <a:xfrm>
            <a:off x="5637290" y="2782660"/>
            <a:ext cx="1044708" cy="290033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/>
              <a:t>尚有工單</a:t>
            </a:r>
            <a:endParaRPr lang="zh-TW" altLang="en-US" sz="1400" b="1" dirty="0"/>
          </a:p>
        </p:txBody>
      </p:sp>
      <p:sp>
        <p:nvSpPr>
          <p:cNvPr id="63" name="圓角矩形 62"/>
          <p:cNvSpPr/>
          <p:nvPr/>
        </p:nvSpPr>
        <p:spPr>
          <a:xfrm>
            <a:off x="5724128" y="4725144"/>
            <a:ext cx="1044708" cy="290033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/>
              <a:t>手動調整</a:t>
            </a:r>
            <a:endParaRPr lang="zh-TW" altLang="en-US" sz="1400" b="1" dirty="0"/>
          </a:p>
        </p:txBody>
      </p:sp>
      <p:grpSp>
        <p:nvGrpSpPr>
          <p:cNvPr id="12" name="群組 11"/>
          <p:cNvGrpSpPr/>
          <p:nvPr/>
        </p:nvGrpSpPr>
        <p:grpSpPr>
          <a:xfrm>
            <a:off x="758623" y="1641819"/>
            <a:ext cx="1152128" cy="664042"/>
            <a:chOff x="539552" y="563343"/>
            <a:chExt cx="1512168" cy="346684"/>
          </a:xfrm>
        </p:grpSpPr>
        <p:sp>
          <p:nvSpPr>
            <p:cNvPr id="4" name="圓角矩形 3"/>
            <p:cNvSpPr/>
            <p:nvPr/>
          </p:nvSpPr>
          <p:spPr>
            <a:xfrm>
              <a:off x="539552" y="563343"/>
              <a:ext cx="1512168" cy="3466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592135" y="585264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/>
                <a:t>讀取待排程工單</a:t>
              </a:r>
              <a:endParaRPr lang="en-US" altLang="zh-TW" sz="1400" dirty="0" smtClean="0"/>
            </a:p>
          </p:txBody>
        </p:sp>
      </p:grpSp>
      <p:cxnSp>
        <p:nvCxnSpPr>
          <p:cNvPr id="7" name="直線單箭頭接點 6"/>
          <p:cNvCxnSpPr>
            <a:stCxn id="4" idx="3"/>
            <a:endCxn id="15" idx="1"/>
          </p:cNvCxnSpPr>
          <p:nvPr/>
        </p:nvCxnSpPr>
        <p:spPr>
          <a:xfrm>
            <a:off x="1910751" y="1973840"/>
            <a:ext cx="471130" cy="47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53689" y="638433"/>
            <a:ext cx="1565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200" dirty="0" smtClean="0"/>
              <a:t>限制交貨日</a:t>
            </a:r>
            <a:r>
              <a:rPr lang="en-US" altLang="zh-TW" sz="1200" dirty="0" smtClean="0"/>
              <a:t>3?</a:t>
            </a:r>
            <a:r>
              <a:rPr lang="zh-TW" altLang="en-US" sz="1200" dirty="0" smtClean="0"/>
              <a:t>日內</a:t>
            </a:r>
            <a:endParaRPr lang="en-US" altLang="zh-TW" sz="1200" dirty="0" smtClean="0"/>
          </a:p>
          <a:p>
            <a:r>
              <a:rPr lang="zh-TW" altLang="en-US" sz="1200" dirty="0" smtClean="0"/>
              <a:t>預設上限</a:t>
            </a:r>
            <a:r>
              <a:rPr lang="en-US" altLang="zh-TW" sz="1200" dirty="0" smtClean="0"/>
              <a:t>104</a:t>
            </a:r>
            <a:r>
              <a:rPr lang="zh-TW" altLang="en-US" sz="1200" dirty="0" smtClean="0"/>
              <a:t>筆</a:t>
            </a:r>
            <a:r>
              <a:rPr lang="en-US" altLang="zh-TW" sz="1200" dirty="0" smtClean="0"/>
              <a:t>(</a:t>
            </a:r>
            <a:r>
              <a:rPr lang="zh-TW" altLang="en-US" sz="1200" dirty="0" smtClean="0"/>
              <a:t>可調</a:t>
            </a:r>
            <a:r>
              <a:rPr lang="en-US" altLang="zh-TW" sz="1200" dirty="0" smtClean="0"/>
              <a:t>)</a:t>
            </a:r>
            <a:endParaRPr lang="zh-TW" altLang="en-US" sz="1200" dirty="0"/>
          </a:p>
        </p:txBody>
      </p:sp>
      <p:sp>
        <p:nvSpPr>
          <p:cNvPr id="13" name="矩形 12"/>
          <p:cNvSpPr/>
          <p:nvPr/>
        </p:nvSpPr>
        <p:spPr>
          <a:xfrm>
            <a:off x="2669913" y="453766"/>
            <a:ext cx="12375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 smtClean="0"/>
              <a:t>1.</a:t>
            </a:r>
            <a:r>
              <a:rPr lang="zh-TW" altLang="en-US" sz="1200" dirty="0" smtClean="0"/>
              <a:t>淺中深色</a:t>
            </a:r>
            <a:r>
              <a:rPr lang="en-US" altLang="zh-TW" sz="1200" dirty="0" smtClean="0"/>
              <a:t>(ASC)</a:t>
            </a:r>
          </a:p>
          <a:p>
            <a:r>
              <a:rPr lang="en-US" altLang="zh-TW" sz="1200" dirty="0" smtClean="0"/>
              <a:t>2.</a:t>
            </a:r>
            <a:r>
              <a:rPr lang="zh-TW" altLang="en-US" sz="1200" dirty="0" smtClean="0"/>
              <a:t>交貨日</a:t>
            </a:r>
            <a:r>
              <a:rPr lang="en-US" altLang="zh-TW" sz="1200" dirty="0" smtClean="0"/>
              <a:t>(ASC)</a:t>
            </a:r>
          </a:p>
          <a:p>
            <a:r>
              <a:rPr lang="en-US" altLang="zh-TW" sz="1200" dirty="0" smtClean="0"/>
              <a:t>3.</a:t>
            </a:r>
            <a:r>
              <a:rPr lang="zh-TW" altLang="en-US" sz="1200" dirty="0" smtClean="0"/>
              <a:t>開卡日</a:t>
            </a:r>
            <a:r>
              <a:rPr lang="en-US" altLang="zh-TW" sz="1200" dirty="0" smtClean="0"/>
              <a:t>(ASC)</a:t>
            </a:r>
          </a:p>
          <a:p>
            <a:r>
              <a:rPr lang="en-US" altLang="zh-TW" sz="1200" dirty="0" smtClean="0"/>
              <a:t>4.</a:t>
            </a:r>
            <a:r>
              <a:rPr lang="zh-TW" altLang="en-US" sz="1200" dirty="0" smtClean="0"/>
              <a:t>投胚量</a:t>
            </a:r>
            <a:r>
              <a:rPr lang="en-US" altLang="zh-TW" sz="1200" dirty="0" smtClean="0"/>
              <a:t>(DESC)</a:t>
            </a:r>
            <a:endParaRPr lang="zh-TW" altLang="en-US" sz="12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2381881" y="1646545"/>
            <a:ext cx="1257061" cy="664042"/>
            <a:chOff x="539552" y="563343"/>
            <a:chExt cx="1512168" cy="346684"/>
          </a:xfrm>
        </p:grpSpPr>
        <p:sp>
          <p:nvSpPr>
            <p:cNvPr id="15" name="圓角矩形 14"/>
            <p:cNvSpPr/>
            <p:nvPr/>
          </p:nvSpPr>
          <p:spPr>
            <a:xfrm>
              <a:off x="539552" y="563343"/>
              <a:ext cx="1512168" cy="3466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592135" y="585264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/>
                <a:t>待排程工單排序</a:t>
              </a:r>
              <a:endParaRPr lang="en-US" altLang="zh-TW" sz="1400" dirty="0" smtClean="0"/>
            </a:p>
          </p:txBody>
        </p:sp>
      </p:grpSp>
      <p:sp>
        <p:nvSpPr>
          <p:cNvPr id="19" name="向下箭號 18"/>
          <p:cNvSpPr/>
          <p:nvPr/>
        </p:nvSpPr>
        <p:spPr>
          <a:xfrm>
            <a:off x="1164220" y="1100098"/>
            <a:ext cx="183098" cy="474439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2827313" y="1273476"/>
            <a:ext cx="183098" cy="368343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3622794" y="1988018"/>
            <a:ext cx="631295" cy="47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群組 22"/>
          <p:cNvGrpSpPr/>
          <p:nvPr/>
        </p:nvGrpSpPr>
        <p:grpSpPr>
          <a:xfrm>
            <a:off x="4254089" y="1614010"/>
            <a:ext cx="1152128" cy="664042"/>
            <a:chOff x="539552" y="563343"/>
            <a:chExt cx="1512168" cy="346684"/>
          </a:xfrm>
        </p:grpSpPr>
        <p:sp>
          <p:nvSpPr>
            <p:cNvPr id="24" name="圓角矩形 23"/>
            <p:cNvSpPr/>
            <p:nvPr/>
          </p:nvSpPr>
          <p:spPr>
            <a:xfrm>
              <a:off x="539552" y="563343"/>
              <a:ext cx="1512168" cy="3466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92135" y="585264"/>
              <a:ext cx="1440160" cy="273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/>
                <a:t>下</a:t>
              </a:r>
              <a:r>
                <a:rPr lang="en-US" altLang="zh-TW" sz="1400" dirty="0" smtClean="0"/>
                <a:t>1</a:t>
              </a:r>
              <a:r>
                <a:rPr lang="zh-TW" altLang="en-US" sz="1400" dirty="0" smtClean="0"/>
                <a:t>筆待排程工單</a:t>
              </a:r>
              <a:endParaRPr lang="en-US" altLang="zh-TW" sz="1400" dirty="0" smtClean="0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4287436" y="2654657"/>
            <a:ext cx="1152128" cy="664042"/>
            <a:chOff x="539552" y="563343"/>
            <a:chExt cx="1512168" cy="346684"/>
          </a:xfrm>
        </p:grpSpPr>
        <p:sp>
          <p:nvSpPr>
            <p:cNvPr id="27" name="圓角矩形 26"/>
            <p:cNvSpPr/>
            <p:nvPr/>
          </p:nvSpPr>
          <p:spPr>
            <a:xfrm>
              <a:off x="539552" y="563343"/>
              <a:ext cx="1512168" cy="3466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92135" y="585264"/>
              <a:ext cx="1440160" cy="273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/>
                <a:t>選出適合此工單可排缸</a:t>
              </a:r>
              <a:endParaRPr lang="en-US" altLang="zh-TW" sz="1400" dirty="0" smtClean="0"/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6857272" y="3742018"/>
            <a:ext cx="1152128" cy="664042"/>
            <a:chOff x="539552" y="563343"/>
            <a:chExt cx="1512168" cy="346684"/>
          </a:xfrm>
        </p:grpSpPr>
        <p:sp>
          <p:nvSpPr>
            <p:cNvPr id="30" name="圓角矩形 29"/>
            <p:cNvSpPr/>
            <p:nvPr/>
          </p:nvSpPr>
          <p:spPr>
            <a:xfrm>
              <a:off x="539552" y="563343"/>
              <a:ext cx="1512168" cy="3466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592135" y="585264"/>
              <a:ext cx="1440160" cy="1606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/>
                <a:t>審視與修訂</a:t>
              </a:r>
              <a:endParaRPr lang="en-US" altLang="zh-TW" sz="1400" dirty="0" smtClean="0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6844311" y="5229200"/>
            <a:ext cx="1152128" cy="820375"/>
            <a:chOff x="539552" y="563343"/>
            <a:chExt cx="1512168" cy="346684"/>
          </a:xfrm>
        </p:grpSpPr>
        <p:sp>
          <p:nvSpPr>
            <p:cNvPr id="33" name="圓角矩形 32"/>
            <p:cNvSpPr/>
            <p:nvPr/>
          </p:nvSpPr>
          <p:spPr>
            <a:xfrm>
              <a:off x="539552" y="563343"/>
              <a:ext cx="1512168" cy="3466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592135" y="585264"/>
              <a:ext cx="1440160" cy="130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/>
                <a:t>結果輸出</a:t>
              </a:r>
              <a:endParaRPr lang="en-US" altLang="zh-TW" sz="1400" dirty="0" smtClean="0"/>
            </a:p>
          </p:txBody>
        </p:sp>
      </p:grpSp>
      <p:sp>
        <p:nvSpPr>
          <p:cNvPr id="37" name="弧形向右箭號 36"/>
          <p:cNvSpPr/>
          <p:nvPr/>
        </p:nvSpPr>
        <p:spPr>
          <a:xfrm rot="10800000">
            <a:off x="5439564" y="1688532"/>
            <a:ext cx="720080" cy="2478291"/>
          </a:xfrm>
          <a:prstGeom prst="curved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40" name="群組 39"/>
          <p:cNvGrpSpPr/>
          <p:nvPr/>
        </p:nvGrpSpPr>
        <p:grpSpPr>
          <a:xfrm>
            <a:off x="4312569" y="3742018"/>
            <a:ext cx="1152128" cy="664042"/>
            <a:chOff x="539552" y="563343"/>
            <a:chExt cx="1512168" cy="346684"/>
          </a:xfrm>
        </p:grpSpPr>
        <p:sp>
          <p:nvSpPr>
            <p:cNvPr id="41" name="圓角矩形 40"/>
            <p:cNvSpPr/>
            <p:nvPr/>
          </p:nvSpPr>
          <p:spPr>
            <a:xfrm>
              <a:off x="539552" y="563343"/>
              <a:ext cx="1512168" cy="3466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592135" y="585264"/>
              <a:ext cx="1440160" cy="273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/>
                <a:t>排程列表</a:t>
              </a:r>
              <a:r>
                <a:rPr lang="zh-TW" altLang="en-US" sz="1400" dirty="0" smtClean="0"/>
                <a:t>更新</a:t>
              </a:r>
              <a:endParaRPr lang="en-US" altLang="zh-TW" sz="1400" dirty="0" smtClean="0"/>
            </a:p>
          </p:txBody>
        </p:sp>
      </p:grpSp>
      <p:cxnSp>
        <p:nvCxnSpPr>
          <p:cNvPr id="43" name="直線單箭頭接點 42"/>
          <p:cNvCxnSpPr/>
          <p:nvPr/>
        </p:nvCxnSpPr>
        <p:spPr>
          <a:xfrm>
            <a:off x="4820779" y="2273326"/>
            <a:ext cx="0" cy="4233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4796226" y="3318699"/>
            <a:ext cx="0" cy="4233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5483955" y="4162097"/>
            <a:ext cx="1360356" cy="47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endCxn id="33" idx="0"/>
          </p:cNvCxnSpPr>
          <p:nvPr/>
        </p:nvCxnSpPr>
        <p:spPr>
          <a:xfrm>
            <a:off x="7420375" y="4406060"/>
            <a:ext cx="0" cy="823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7420375" y="2799980"/>
            <a:ext cx="1565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200" dirty="0" smtClean="0"/>
              <a:t>手動調整</a:t>
            </a:r>
            <a:endParaRPr lang="en-US" altLang="zh-TW" sz="1200" dirty="0"/>
          </a:p>
          <a:p>
            <a:r>
              <a:rPr lang="zh-TW" altLang="en-US" sz="1200" dirty="0" smtClean="0"/>
              <a:t>插單作業</a:t>
            </a:r>
            <a:endParaRPr lang="zh-TW" altLang="en-US" sz="1200" dirty="0"/>
          </a:p>
        </p:txBody>
      </p:sp>
      <p:sp>
        <p:nvSpPr>
          <p:cNvPr id="56" name="向下箭號 55"/>
          <p:cNvSpPr/>
          <p:nvPr/>
        </p:nvSpPr>
        <p:spPr>
          <a:xfrm>
            <a:off x="7596336" y="3261645"/>
            <a:ext cx="183098" cy="474439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手繪多邊形 61"/>
          <p:cNvSpPr/>
          <p:nvPr/>
        </p:nvSpPr>
        <p:spPr>
          <a:xfrm>
            <a:off x="5410000" y="4327095"/>
            <a:ext cx="1506848" cy="490536"/>
          </a:xfrm>
          <a:custGeom>
            <a:avLst/>
            <a:gdLst>
              <a:gd name="connsiteX0" fmla="*/ 1506848 w 1506848"/>
              <a:gd name="connsiteY0" fmla="*/ 63837 h 652315"/>
              <a:gd name="connsiteX1" fmla="*/ 800677 w 1506848"/>
              <a:gd name="connsiteY1" fmla="*/ 652312 h 652315"/>
              <a:gd name="connsiteX2" fmla="*/ 85453 w 1506848"/>
              <a:gd name="connsiteY2" fmla="*/ 72890 h 652315"/>
              <a:gd name="connsiteX3" fmla="*/ 40186 w 1506848"/>
              <a:gd name="connsiteY3" fmla="*/ 27623 h 652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6848" h="652315">
                <a:moveTo>
                  <a:pt x="1506848" y="63837"/>
                </a:moveTo>
                <a:cubicBezTo>
                  <a:pt x="1272212" y="357320"/>
                  <a:pt x="1037576" y="650803"/>
                  <a:pt x="800677" y="652312"/>
                </a:cubicBezTo>
                <a:cubicBezTo>
                  <a:pt x="563778" y="653821"/>
                  <a:pt x="212201" y="177005"/>
                  <a:pt x="85453" y="72890"/>
                </a:cubicBezTo>
                <a:cubicBezTo>
                  <a:pt x="-41295" y="-31225"/>
                  <a:pt x="-555" y="-1801"/>
                  <a:pt x="40186" y="27623"/>
                </a:cubicBezTo>
              </a:path>
            </a:pathLst>
          </a:custGeom>
          <a:noFill/>
          <a:ln>
            <a:solidFill>
              <a:srgbClr val="C00000"/>
            </a:solidFill>
            <a:prstDash val="sysDot"/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38077" y="4238238"/>
            <a:ext cx="1608339" cy="18428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七邊形 64"/>
          <p:cNvSpPr/>
          <p:nvPr/>
        </p:nvSpPr>
        <p:spPr>
          <a:xfrm>
            <a:off x="835768" y="5629587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4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6" name="七邊形 65"/>
          <p:cNvSpPr/>
          <p:nvPr/>
        </p:nvSpPr>
        <p:spPr>
          <a:xfrm>
            <a:off x="811978" y="4310499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7" name="七邊形 66"/>
          <p:cNvSpPr/>
          <p:nvPr/>
        </p:nvSpPr>
        <p:spPr>
          <a:xfrm>
            <a:off x="835768" y="4751167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8" name="七邊形 67"/>
          <p:cNvSpPr/>
          <p:nvPr/>
        </p:nvSpPr>
        <p:spPr>
          <a:xfrm>
            <a:off x="835768" y="5208112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3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204273" y="4396273"/>
            <a:ext cx="111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資料分析模組</a:t>
            </a:r>
            <a:endParaRPr lang="zh-TW" altLang="en-US" sz="12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220642" y="4836941"/>
            <a:ext cx="111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工作派遣模組</a:t>
            </a:r>
            <a:endParaRPr lang="zh-TW" altLang="en-US" sz="12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235752" y="5293886"/>
            <a:ext cx="111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介面模組</a:t>
            </a:r>
            <a:endParaRPr lang="zh-TW" altLang="en-US" sz="12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228436" y="5716042"/>
            <a:ext cx="111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資訊</a:t>
            </a:r>
            <a:r>
              <a:rPr lang="en-US" altLang="zh-TW" sz="1200" dirty="0" smtClean="0"/>
              <a:t>IO</a:t>
            </a:r>
            <a:r>
              <a:rPr lang="zh-TW" altLang="en-US" sz="1200" dirty="0" smtClean="0"/>
              <a:t>模組</a:t>
            </a:r>
            <a:endParaRPr lang="zh-TW" altLang="en-US" sz="1200" dirty="0"/>
          </a:p>
        </p:txBody>
      </p:sp>
      <p:sp>
        <p:nvSpPr>
          <p:cNvPr id="73" name="七邊形 72"/>
          <p:cNvSpPr/>
          <p:nvPr/>
        </p:nvSpPr>
        <p:spPr>
          <a:xfrm>
            <a:off x="3016358" y="2080430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4" name="七邊形 73"/>
          <p:cNvSpPr/>
          <p:nvPr/>
        </p:nvSpPr>
        <p:spPr>
          <a:xfrm>
            <a:off x="3417353" y="2091939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5" name="七邊形 74"/>
          <p:cNvSpPr/>
          <p:nvPr/>
        </p:nvSpPr>
        <p:spPr>
          <a:xfrm>
            <a:off x="5325382" y="3058459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6" name="七邊形 75"/>
          <p:cNvSpPr/>
          <p:nvPr/>
        </p:nvSpPr>
        <p:spPr>
          <a:xfrm>
            <a:off x="5207165" y="1997830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4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7" name="七邊形 76"/>
          <p:cNvSpPr/>
          <p:nvPr/>
        </p:nvSpPr>
        <p:spPr>
          <a:xfrm>
            <a:off x="7731085" y="5760263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4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8" name="七邊形 77"/>
          <p:cNvSpPr/>
          <p:nvPr/>
        </p:nvSpPr>
        <p:spPr>
          <a:xfrm>
            <a:off x="7797387" y="4163693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3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9" name="七邊形 78"/>
          <p:cNvSpPr/>
          <p:nvPr/>
        </p:nvSpPr>
        <p:spPr>
          <a:xfrm>
            <a:off x="1542247" y="2002631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</a:rPr>
              <a:t>4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0" name="七邊形 79"/>
          <p:cNvSpPr/>
          <p:nvPr/>
        </p:nvSpPr>
        <p:spPr>
          <a:xfrm>
            <a:off x="5037713" y="4104603"/>
            <a:ext cx="368504" cy="362773"/>
          </a:xfrm>
          <a:prstGeom prst="heptagon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zh-TW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2680475" y="3826892"/>
            <a:ext cx="12375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 smtClean="0"/>
              <a:t>1.Job Queue</a:t>
            </a:r>
          </a:p>
          <a:p>
            <a:r>
              <a:rPr lang="en-US" altLang="zh-TW" sz="1200" dirty="0" smtClean="0"/>
              <a:t>2.Slot Queue</a:t>
            </a:r>
          </a:p>
          <a:p>
            <a:r>
              <a:rPr lang="en-US" altLang="zh-TW" sz="1200" dirty="0" smtClean="0"/>
              <a:t>3.Schduled List</a:t>
            </a:r>
            <a:endParaRPr lang="en-US" altLang="zh-TW" sz="1200" dirty="0" smtClean="0"/>
          </a:p>
        </p:txBody>
      </p:sp>
      <p:sp>
        <p:nvSpPr>
          <p:cNvPr id="82" name="向下箭號 81"/>
          <p:cNvSpPr/>
          <p:nvPr/>
        </p:nvSpPr>
        <p:spPr>
          <a:xfrm rot="5400000" flipV="1">
            <a:off x="3958829" y="3846139"/>
            <a:ext cx="170988" cy="516927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/>
        </p:nvSpPr>
        <p:spPr>
          <a:xfrm>
            <a:off x="5391417" y="5344764"/>
            <a:ext cx="11302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 smtClean="0"/>
              <a:t>1.</a:t>
            </a:r>
            <a:r>
              <a:rPr lang="zh-TW" altLang="en-US" sz="1200" dirty="0" smtClean="0"/>
              <a:t>上綸</a:t>
            </a:r>
            <a:r>
              <a:rPr lang="en-US" altLang="zh-TW" sz="1200" dirty="0" smtClean="0"/>
              <a:t>ERP</a:t>
            </a:r>
          </a:p>
          <a:p>
            <a:r>
              <a:rPr lang="en-US" altLang="zh-TW" sz="1200" dirty="0" smtClean="0"/>
              <a:t>2.</a:t>
            </a:r>
            <a:r>
              <a:rPr lang="zh-TW" altLang="en-US" sz="1200" dirty="0" smtClean="0"/>
              <a:t>報表</a:t>
            </a:r>
            <a:endParaRPr lang="en-US" altLang="zh-TW" sz="1200" dirty="0" smtClean="0"/>
          </a:p>
          <a:p>
            <a:r>
              <a:rPr lang="en-US" altLang="zh-TW" sz="1200" dirty="0" smtClean="0"/>
              <a:t>3.flat file</a:t>
            </a:r>
          </a:p>
          <a:p>
            <a:r>
              <a:rPr lang="en-US" altLang="zh-TW" sz="1200" dirty="0" smtClean="0"/>
              <a:t>4.SQLite etc.</a:t>
            </a:r>
            <a:endParaRPr lang="en-US" altLang="zh-TW" sz="1200" dirty="0" smtClean="0"/>
          </a:p>
        </p:txBody>
      </p:sp>
      <p:sp>
        <p:nvSpPr>
          <p:cNvPr id="84" name="向下箭號 83"/>
          <p:cNvSpPr/>
          <p:nvPr/>
        </p:nvSpPr>
        <p:spPr>
          <a:xfrm rot="5400000" flipV="1">
            <a:off x="6486289" y="5438862"/>
            <a:ext cx="170988" cy="516927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/>
        </p:nvSpPr>
        <p:spPr>
          <a:xfrm>
            <a:off x="2555776" y="2699361"/>
            <a:ext cx="1351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 smtClean="0"/>
              <a:t>1.</a:t>
            </a:r>
            <a:r>
              <a:rPr lang="zh-TW" altLang="en-US" sz="1200" dirty="0" smtClean="0"/>
              <a:t>上限</a:t>
            </a:r>
            <a:r>
              <a:rPr lang="en-US" altLang="zh-TW" sz="1200" dirty="0" smtClean="0"/>
              <a:t>4</a:t>
            </a:r>
            <a:r>
              <a:rPr lang="zh-TW" altLang="en-US" sz="1200" dirty="0" smtClean="0"/>
              <a:t>缸規則</a:t>
            </a:r>
            <a:endParaRPr lang="en-US" altLang="zh-TW" sz="1200" dirty="0" smtClean="0"/>
          </a:p>
          <a:p>
            <a:r>
              <a:rPr lang="en-US" altLang="zh-TW" sz="1200" dirty="0" smtClean="0"/>
              <a:t>2.</a:t>
            </a:r>
            <a:r>
              <a:rPr lang="zh-TW" altLang="en-US" sz="1200" dirty="0" smtClean="0"/>
              <a:t>最小清缸原則</a:t>
            </a:r>
          </a:p>
          <a:p>
            <a:r>
              <a:rPr lang="en-US" altLang="zh-TW" sz="1200" dirty="0" smtClean="0"/>
              <a:t>3.</a:t>
            </a:r>
            <a:r>
              <a:rPr lang="zh-TW" altLang="en-US" sz="1200" dirty="0" smtClean="0"/>
              <a:t>分批同缸原則</a:t>
            </a:r>
            <a:endParaRPr lang="en-US" altLang="zh-TW" sz="1200" dirty="0" smtClean="0"/>
          </a:p>
          <a:p>
            <a:r>
              <a:rPr lang="en-US" altLang="zh-TW" sz="1200" dirty="0" smtClean="0"/>
              <a:t>4.20?</a:t>
            </a:r>
            <a:r>
              <a:rPr lang="zh-TW" altLang="en-US" sz="1200" dirty="0" smtClean="0"/>
              <a:t>小時規則</a:t>
            </a:r>
            <a:endParaRPr lang="en-US" altLang="zh-TW" sz="1200" dirty="0" smtClean="0"/>
          </a:p>
        </p:txBody>
      </p:sp>
      <p:sp>
        <p:nvSpPr>
          <p:cNvPr id="86" name="向下箭號 85"/>
          <p:cNvSpPr/>
          <p:nvPr/>
        </p:nvSpPr>
        <p:spPr>
          <a:xfrm rot="5400000" flipV="1">
            <a:off x="4021777" y="2843986"/>
            <a:ext cx="158050" cy="386589"/>
          </a:xfrm>
          <a:prstGeom prst="downArrow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84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289</Words>
  <Application>Microsoft Office PowerPoint</Application>
  <PresentationFormat>如螢幕大小 (4:3)</PresentationFormat>
  <Paragraphs>74</Paragraphs>
  <Slides>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葉明憲</dc:creator>
  <cp:lastModifiedBy>葉明憲</cp:lastModifiedBy>
  <cp:revision>10</cp:revision>
  <cp:lastPrinted>2017-08-16T02:47:44Z</cp:lastPrinted>
  <dcterms:created xsi:type="dcterms:W3CDTF">2017-08-16T01:43:18Z</dcterms:created>
  <dcterms:modified xsi:type="dcterms:W3CDTF">2017-08-16T08:12:05Z</dcterms:modified>
</cp:coreProperties>
</file>